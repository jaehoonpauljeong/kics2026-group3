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9.xml"/><Relationship Id="rId14" Type="http://schemas.openxmlformats.org/officeDocument/2006/relationships/slide" Target="slides/slide10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5dc5c0bd3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5dc5c0bd3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5dc5c0bd3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5dc5c0bd3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5dc5c0bd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5dc5c0bd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1A61F1AE-561A-CBF4-D7FF-462506A7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5dc5c0bd3_0_138:notes">
            <a:extLst>
              <a:ext uri="{FF2B5EF4-FFF2-40B4-BE49-F238E27FC236}">
                <a16:creationId xmlns:a16="http://schemas.microsoft.com/office/drawing/2014/main" id="{D29AE7E3-EC49-0481-A5B8-EF0481159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5dc5c0bd3_0_138:notes">
            <a:extLst>
              <a:ext uri="{FF2B5EF4-FFF2-40B4-BE49-F238E27FC236}">
                <a16:creationId xmlns:a16="http://schemas.microsoft.com/office/drawing/2014/main" id="{4C2E2529-BFA3-F961-8955-7FC8F9EB4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8167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43BAB87-C924-8E17-8C25-58A3ABB5A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5dc5c0bd3_0_138:notes">
            <a:extLst>
              <a:ext uri="{FF2B5EF4-FFF2-40B4-BE49-F238E27FC236}">
                <a16:creationId xmlns:a16="http://schemas.microsoft.com/office/drawing/2014/main" id="{0F5C2AE8-AB2C-67FA-84EF-DDF6439BD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5dc5c0bd3_0_138:notes">
            <a:extLst>
              <a:ext uri="{FF2B5EF4-FFF2-40B4-BE49-F238E27FC236}">
                <a16:creationId xmlns:a16="http://schemas.microsoft.com/office/drawing/2014/main" id="{E86C089B-7F39-533E-937D-4FBCC5744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2708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5dc5c0bd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5dc5c0bd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5dc5c0bd3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5dc5c0bd3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D8187B2-89C5-9FB9-A62F-9BD55753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5dc5c0bd3_0_138:notes">
            <a:extLst>
              <a:ext uri="{FF2B5EF4-FFF2-40B4-BE49-F238E27FC236}">
                <a16:creationId xmlns:a16="http://schemas.microsoft.com/office/drawing/2014/main" id="{F01C045E-7CC4-F6AA-CAEC-3FD76C327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5dc5c0bd3_0_138:notes">
            <a:extLst>
              <a:ext uri="{FF2B5EF4-FFF2-40B4-BE49-F238E27FC236}">
                <a16:creationId xmlns:a16="http://schemas.microsoft.com/office/drawing/2014/main" id="{BE4CD002-8BF1-3703-DCE4-1CB76A2437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557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5dc5c0bd3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5dc5c0bd3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5dc5c0bd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5dc5c0bd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5dc5c0bd3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5dc5c0bd3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"/>
          <p:cNvSpPr txBox="1"/>
          <p:nvPr>
            <p:ph type="ctrTitle"/>
          </p:nvPr>
        </p:nvSpPr>
        <p:spPr>
          <a:xfrm>
            <a:off x="1858700" y="1379797"/>
            <a:ext cx="5361300" cy="18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520"/>
              <a:t>Mitigating Hallucination in Security Policy Generation with Large Language Models: A Prompt Ensembling Approach</a:t>
            </a:r>
            <a:endParaRPr b="1" sz="2520"/>
          </a:p>
        </p:txBody>
      </p:sp>
      <p:sp>
        <p:nvSpPr>
          <p:cNvPr id="195" name="Google Shape;195;p1"/>
          <p:cNvSpPr txBox="1"/>
          <p:nvPr>
            <p:ph idx="1" type="subTitle"/>
          </p:nvPr>
        </p:nvSpPr>
        <p:spPr>
          <a:xfrm>
            <a:off x="3486434" y="3842933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100"/>
              <a:t>Jet Wei Goh¹, Kamarul Ridwan Bin Abdul Rahim¹, Nathan Moyses², Vetrivel Maheswaran³, Jaehoon (Paul) Jeong⁴, and Tae (Tom) Oh³</a:t>
            </a:r>
            <a:br>
              <a:rPr b="1" lang="es" sz="1100"/>
            </a:br>
            <a:r>
              <a:rPr b="1" lang="es" sz="1100"/>
              <a:t>¹Singapore University of Technology and Design, ²University of Alicante, ³Rochester Institute of Technology, ⁴Sungkyunkwan University</a:t>
            </a:r>
            <a:endParaRPr b="1" sz="1100"/>
          </a:p>
          <a:p>
            <a:pPr indent="0" lvl="0" mar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Background &amp; Motivation</a:t>
            </a:r>
            <a:endParaRPr dirty="0"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Problem: LLMs can generate hallucinated or invalid outputs when creating structured security policies (e.g., I2NSF CFI XML).</a:t>
            </a:r>
            <a:endParaRPr sz="1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Challenge: Single-step LLM prompting often produces:</a:t>
            </a:r>
            <a:endParaRPr sz="1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lvl="1" indent="-317500">
              <a:buClr>
                <a:srgbClr val="000000"/>
              </a:buClr>
              <a:buSzPts val="1400"/>
              <a:buFont typeface="Nunito"/>
              <a:buChar char="○"/>
            </a:pPr>
            <a:r>
              <a:rPr lang="en-SG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Schema-level hallucinations</a:t>
            </a:r>
          </a:p>
          <a:p>
            <a:pPr lvl="1" indent="-317500">
              <a:buClr>
                <a:srgbClr val="000000"/>
              </a:buClr>
              <a:buSzPts val="1400"/>
              <a:buFont typeface="Nunito"/>
              <a:buChar char="○"/>
            </a:pPr>
            <a:r>
              <a:rPr lang="en-U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Lack of structured training data</a:t>
            </a:r>
          </a:p>
          <a:p>
            <a:pPr lvl="1" indent="-317500">
              <a:buClr>
                <a:srgbClr val="000000"/>
              </a:buClr>
              <a:buSzPts val="1400"/>
              <a:buFont typeface="Nunito"/>
              <a:buChar char="○"/>
            </a:pPr>
            <a:r>
              <a:rPr lang="e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intent relevance filtering</a:t>
            </a:r>
            <a:endParaRPr sz="1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s" sz="14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Goal: Improve accuracy, reliability, and schema compliance in LLM-generated security policies.</a:t>
            </a:r>
            <a:endParaRPr sz="14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4234113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Proposed Solution: Prompt Ensembling Pipeline</a:t>
            </a:r>
            <a:endParaRPr dirty="0"/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698834" y="2119301"/>
            <a:ext cx="4234113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Core Idea: Decompose policy generation into specialized LLM prompt “experts”: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Intent Restatement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Event &amp; Action Expert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Conditions Expert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Endpoint Group &amp; Threat Feed Expert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Metadata Expert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Schema Readiness Checker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Policy Composer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Policy Refiner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 descr="A diagram of a business process&#10;&#10;AI-generated content may be incorrect.">
            <a:extLst>
              <a:ext uri="{FF2B5EF4-FFF2-40B4-BE49-F238E27FC236}">
                <a16:creationId xmlns:a16="http://schemas.microsoft.com/office/drawing/2014/main" id="{64BCB814-AA48-DF4C-E756-5FDB73158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853" y="432858"/>
            <a:ext cx="3023983" cy="42777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4070484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Intent Relevance Filtering</a:t>
            </a:r>
            <a:endParaRPr dirty="0"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Problem: LLMs may generate policies even for non-security intents (e.g., “Calculate payroll tax”).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Solution: LLM-based intent relevance classifier as a pre-filter: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○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Valid: Security/traffic control intents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○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 Valid: Off-domain requests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E6CE2287-63E4-1C94-FE8C-C18316BE8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C1555CFE-7FC5-A062-4666-185A566632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1" y="845600"/>
            <a:ext cx="375285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Intent Relevance Filtering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C383082F-7F2B-9917-F8A8-2A1E07A3D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464092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SG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 types of failure modes: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lvl="1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Generated policies from irrelevant intents are syntactically invalid, but are caught by validator</a:t>
            </a:r>
          </a:p>
          <a:p>
            <a:pPr lvl="1"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Generated policies from irrelevant intents are syntactically valid but semantically irrelevant, more dangerous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FF55515-E531-9697-F038-B5AEED714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456545"/>
            <a:ext cx="2387065" cy="4230410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3D23A3-3B43-3035-84D7-F9825436E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017" y="848147"/>
            <a:ext cx="2394623" cy="344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1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B404D6AD-4F08-0BBA-8ED2-A3FFC88B2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A35AEE3A-5ABD-5059-75D9-3A61199142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Performance Evaluation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B8F2BDC4-4600-9552-3D02-CDFA5B80A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87350" lvl="0" indent="-228600">
              <a:spcBef>
                <a:spcPts val="1200"/>
              </a:spcBef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Syntactic correctness of generated policies</a:t>
            </a:r>
          </a:p>
          <a:p>
            <a:pPr marL="387350" lvl="0" indent="-228600">
              <a:spcBef>
                <a:spcPts val="1200"/>
              </a:spcBef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Qualitative comparison of policy outputs for a representative intent</a:t>
            </a:r>
          </a:p>
          <a:p>
            <a:pPr marL="387350" lvl="0" indent="-228600">
              <a:spcBef>
                <a:spcPts val="1200"/>
              </a:spcBef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en-U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Accuracy of an LLM-based intent relevance classifier that filters off-domain inputs before policy generation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136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" dirty="0"/>
              <a:t>Performance Evaluation: Syntactic Correctness</a:t>
            </a:r>
            <a:endParaRPr dirty="0"/>
          </a:p>
        </p:txBody>
      </p:sp>
      <p:sp>
        <p:nvSpPr>
          <p:cNvPr id="163" name="Google Shape;163;p18"/>
          <p:cNvSpPr txBox="1">
            <a:spLocks noGrp="1"/>
          </p:cNvSpPr>
          <p:nvPr>
            <p:ph type="body" idx="1"/>
          </p:nvPr>
        </p:nvSpPr>
        <p:spPr>
          <a:xfrm>
            <a:off x="629153" y="1590199"/>
            <a:ext cx="3712672" cy="25679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On a dataset of 50 synthetic policy intents.</a:t>
            </a:r>
            <a:endParaRPr lang="es"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Average Number of Valid Policies (3 runs):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Baseline (GPT-4o-mini): 0%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Prompt Ensembling (GPT-4o-mini): 52.6%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Prompt Ensembling (GPT-5-mini): 86%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Conclusion: Prompt ensembling significantly improves schema compliance.</a:t>
            </a:r>
          </a:p>
        </p:txBody>
      </p:sp>
      <p:pic>
        <p:nvPicPr>
          <p:cNvPr id="2" name="Google Shape;149;p16">
            <a:extLst>
              <a:ext uri="{FF2B5EF4-FFF2-40B4-BE49-F238E27FC236}">
                <a16:creationId xmlns:a16="http://schemas.microsoft.com/office/drawing/2014/main" id="{5CFA602D-2AED-AF97-E5A4-580D09AD84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800200"/>
            <a:ext cx="3983025" cy="1964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459910" y="489495"/>
            <a:ext cx="375285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" dirty="0"/>
              <a:t>Performance Evaluation: Qualitative Comparison</a:t>
            </a:r>
            <a:endParaRPr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9CD264B-178B-26BC-1477-C3371E1DA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760" y="1704301"/>
            <a:ext cx="2318077" cy="2329924"/>
          </a:xfrm>
          <a:prstGeom prst="rect">
            <a:avLst/>
          </a:prstGeom>
        </p:spPr>
      </p:pic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9CB410B-F3E4-9573-389B-A1B79F70D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837" y="279133"/>
            <a:ext cx="2342650" cy="4632358"/>
          </a:xfrm>
          <a:prstGeom prst="rect">
            <a:avLst/>
          </a:prstGeom>
        </p:spPr>
      </p:pic>
      <p:pic>
        <p:nvPicPr>
          <p:cNvPr id="9" name="Picture 8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D46F489F-1621-8031-AE34-63DED3341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10" y="2071801"/>
            <a:ext cx="3505689" cy="1962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F7D8C8FC-27D8-1A89-6379-C51FF4A45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83523D83-E341-062B-0629-5755639EC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s" dirty="0"/>
              <a:t>Performance Evaluation: Evaluation of LLM Classifier for Intent Relevance Filtering</a:t>
            </a:r>
            <a:endParaRPr dirty="0"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84743FBC-D09A-E53B-A6C5-74157486A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9150" y="2452738"/>
            <a:ext cx="4262989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298450"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-U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On a labeled dataset of 100 synthetic policy intents (50 security-related, 50 irrelevant) </a:t>
            </a:r>
          </a:p>
          <a:p>
            <a:pPr lvl="0" indent="-298450"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Accuracy: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○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GPT-4o-mini: 91%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○"/>
            </a:pPr>
            <a:r>
              <a:rPr lang="es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GPT-5-mini: 97%</a:t>
            </a:r>
            <a:endParaRPr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 descr="A graph with blue rectangles&#10;&#10;AI-generated content may be incorrect.">
            <a:extLst>
              <a:ext uri="{FF2B5EF4-FFF2-40B4-BE49-F238E27FC236}">
                <a16:creationId xmlns:a16="http://schemas.microsoft.com/office/drawing/2014/main" id="{FB45D745-7D44-F0FB-64A6-231C83517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139" y="1800200"/>
            <a:ext cx="3628729" cy="241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98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Performance &amp; Limitations</a:t>
            </a:r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body" idx="1"/>
          </p:nvPr>
        </p:nvSpPr>
        <p:spPr>
          <a:xfrm>
            <a:off x="819150" y="18002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Trade-offs: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Higher accuracy &amp; reliability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Increased latency (multiple LLM calls)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Schema-dependent (requires updates if YANG model changes)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Future Optimizations: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 smaller models for lightweight steps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Knowledge distillation for faster inference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Automated schema updates via LLM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763" y="1990725"/>
            <a:ext cx="2600325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 &amp; Future Work</a:t>
            </a:r>
            <a:endParaRPr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819150" y="16732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Contributions: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Schema-grounded prompt ensembling for I2NSF policy generation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LLM-based intent relevance filter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AutoNum type="arabicPeriod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Public benchmarks &amp; open-source code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Future Directions: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Build gold dataset for intent-to-policy mapping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Explore knowledge-graph embedding models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End-to-end testing with OpenDaylight &amp; Mininet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3342" y="1879037"/>
            <a:ext cx="2916762" cy="20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 You &amp; Q&amp;A</a:t>
            </a: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1"/>
          </p:nvPr>
        </p:nvSpPr>
        <p:spPr>
          <a:xfrm>
            <a:off x="819150" y="16294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Source Code:</a:t>
            </a:r>
            <a:b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SG" sz="1100" u="sng" dirty="0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https://github.com/jaehoonpauljeong/KICS2026-Group3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Questions?</a:t>
            </a:r>
            <a:endParaRPr sz="11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573" y="1189322"/>
            <a:ext cx="185737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